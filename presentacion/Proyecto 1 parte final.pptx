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1"/>
    <p:restoredTop sz="94637"/>
  </p:normalViewPr>
  <p:slideViewPr>
    <p:cSldViewPr snapToGrid="0">
      <p:cViewPr varScale="1">
        <p:scale>
          <a:sx n="93" d="100"/>
          <a:sy n="93" d="100"/>
        </p:scale>
        <p:origin x="19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1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7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1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89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08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26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6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76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1590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15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93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42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43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3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28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4839-E0CF-7848-0E42-C2CB915E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69FCE-4A6E-36A5-6C09-DBF3645B1172}"/>
              </a:ext>
            </a:extLst>
          </p:cNvPr>
          <p:cNvSpPr txBox="1">
            <a:spLocks/>
          </p:cNvSpPr>
          <p:nvPr/>
        </p:nvSpPr>
        <p:spPr>
          <a:xfrm>
            <a:off x="576695" y="271041"/>
            <a:ext cx="7990610" cy="211967"/>
          </a:xfrm>
          <a:prstGeom prst="rect">
            <a:avLst/>
          </a:prstGeom>
          <a:noFill/>
          <a:ln w="15875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1200" b="1" dirty="0">
                <a:solidFill>
                  <a:schemeClr val="bg1"/>
                </a:solidFill>
              </a:rPr>
              <a:t>Proyecto: Clasificación de ventas </a:t>
            </a:r>
            <a:r>
              <a:rPr lang="es-CL" sz="1200" b="1" dirty="0" err="1">
                <a:solidFill>
                  <a:schemeClr val="bg1"/>
                </a:solidFill>
              </a:rPr>
              <a:t>retail</a:t>
            </a:r>
            <a:r>
              <a:rPr lang="es-CL" sz="1200" b="1" dirty="0">
                <a:solidFill>
                  <a:schemeClr val="bg1"/>
                </a:solidFill>
              </a:rPr>
              <a:t> mediante Machine </a:t>
            </a:r>
            <a:r>
              <a:rPr lang="es-CL" sz="1200" b="1" dirty="0" err="1">
                <a:solidFill>
                  <a:schemeClr val="bg1"/>
                </a:solidFill>
              </a:rPr>
              <a:t>Learning</a:t>
            </a:r>
            <a:endParaRPr lang="es-CL" sz="1200" b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CA18B18-70C2-7B73-C6A5-37819747479E}"/>
              </a:ext>
            </a:extLst>
          </p:cNvPr>
          <p:cNvSpPr txBox="1"/>
          <p:nvPr/>
        </p:nvSpPr>
        <p:spPr>
          <a:xfrm>
            <a:off x="207709" y="841841"/>
            <a:ext cx="252345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CL" sz="900" b="1" dirty="0">
              <a:solidFill>
                <a:schemeClr val="bg1"/>
              </a:solidFill>
            </a:endParaRPr>
          </a:p>
          <a:p>
            <a:pPr algn="just"/>
            <a:r>
              <a:rPr lang="es-CL" sz="900" b="1" dirty="0" err="1">
                <a:solidFill>
                  <a:schemeClr val="bg1"/>
                </a:solidFill>
              </a:rPr>
              <a:t>Dataset</a:t>
            </a:r>
            <a:endParaRPr lang="es-CL" sz="900" b="1" dirty="0">
              <a:solidFill>
                <a:schemeClr val="bg1"/>
              </a:solidFill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CL" sz="900" dirty="0">
                <a:solidFill>
                  <a:schemeClr val="bg1"/>
                </a:solidFill>
              </a:rPr>
              <a:t>1.000 registros de ventas </a:t>
            </a:r>
            <a:r>
              <a:rPr lang="es-CL" sz="900" dirty="0" err="1">
                <a:solidFill>
                  <a:schemeClr val="bg1"/>
                </a:solidFill>
              </a:rPr>
              <a:t>retail</a:t>
            </a:r>
            <a:r>
              <a:rPr lang="es-CL" sz="900" dirty="0">
                <a:solidFill>
                  <a:schemeClr val="bg1"/>
                </a:solidFill>
              </a:rPr>
              <a:t>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CL" sz="900" dirty="0">
                <a:solidFill>
                  <a:schemeClr val="bg1"/>
                </a:solidFill>
              </a:rPr>
              <a:t>Variables utilizadas:</a:t>
            </a:r>
          </a:p>
          <a:p>
            <a:pPr algn="just"/>
            <a:r>
              <a:rPr lang="es-CL" sz="900" dirty="0">
                <a:solidFill>
                  <a:schemeClr val="bg1"/>
                </a:solidFill>
              </a:rPr>
              <a:t>                Age</a:t>
            </a:r>
          </a:p>
          <a:p>
            <a:pPr algn="just"/>
            <a:r>
              <a:rPr lang="es-CL" sz="900" dirty="0">
                <a:solidFill>
                  <a:schemeClr val="bg1"/>
                </a:solidFill>
              </a:rPr>
              <a:t>               </a:t>
            </a:r>
            <a:r>
              <a:rPr lang="es-CL" sz="900" dirty="0" err="1">
                <a:solidFill>
                  <a:schemeClr val="bg1"/>
                </a:solidFill>
              </a:rPr>
              <a:t>Gender</a:t>
            </a:r>
            <a:endParaRPr lang="es-CL" sz="900" dirty="0">
              <a:solidFill>
                <a:schemeClr val="bg1"/>
              </a:solidFill>
            </a:endParaRPr>
          </a:p>
          <a:p>
            <a:pPr algn="just"/>
            <a:r>
              <a:rPr lang="es-CL" sz="900" dirty="0">
                <a:solidFill>
                  <a:schemeClr val="bg1"/>
                </a:solidFill>
              </a:rPr>
              <a:t>               </a:t>
            </a:r>
            <a:r>
              <a:rPr lang="es-CL" sz="900" dirty="0" err="1">
                <a:solidFill>
                  <a:schemeClr val="bg1"/>
                </a:solidFill>
              </a:rPr>
              <a:t>Product</a:t>
            </a:r>
            <a:r>
              <a:rPr lang="es-CL" sz="900" dirty="0">
                <a:solidFill>
                  <a:schemeClr val="bg1"/>
                </a:solidFill>
              </a:rPr>
              <a:t> </a:t>
            </a:r>
            <a:r>
              <a:rPr lang="es-CL" sz="900" dirty="0" err="1">
                <a:solidFill>
                  <a:schemeClr val="bg1"/>
                </a:solidFill>
              </a:rPr>
              <a:t>Category</a:t>
            </a:r>
            <a:endParaRPr lang="es-CL" sz="900" dirty="0">
              <a:solidFill>
                <a:schemeClr val="bg1"/>
              </a:solidFill>
            </a:endParaRPr>
          </a:p>
          <a:p>
            <a:pPr algn="just"/>
            <a:r>
              <a:rPr lang="es-CL" sz="900" dirty="0">
                <a:solidFill>
                  <a:schemeClr val="bg1"/>
                </a:solidFill>
              </a:rPr>
              <a:t>               </a:t>
            </a:r>
            <a:r>
              <a:rPr lang="es-CL" sz="900" dirty="0" err="1">
                <a:solidFill>
                  <a:schemeClr val="bg1"/>
                </a:solidFill>
              </a:rPr>
              <a:t>Quantity</a:t>
            </a:r>
            <a:endParaRPr lang="es-CL" sz="900" dirty="0">
              <a:solidFill>
                <a:schemeClr val="bg1"/>
              </a:solidFill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CL" sz="900" dirty="0">
                <a:solidFill>
                  <a:schemeClr val="bg1"/>
                </a:solidFill>
              </a:rPr>
              <a:t>Variable objetivo: </a:t>
            </a:r>
          </a:p>
          <a:p>
            <a:pPr algn="just"/>
            <a:r>
              <a:rPr lang="es-CL" sz="900" dirty="0">
                <a:solidFill>
                  <a:schemeClr val="bg1"/>
                </a:solidFill>
              </a:rPr>
              <a:t>           Clasificación de ventas (Baja, Media y Alta)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CL" sz="900" dirty="0">
                <a:solidFill>
                  <a:schemeClr val="bg1"/>
                </a:solidFill>
              </a:rPr>
              <a:t>Se realizo limpieza de datos, tratamiento de valores faltantes y balanceo de clases mediante </a:t>
            </a:r>
            <a:r>
              <a:rPr lang="es-CL" sz="900" dirty="0" err="1">
                <a:solidFill>
                  <a:schemeClr val="bg1"/>
                </a:solidFill>
              </a:rPr>
              <a:t>qcut</a:t>
            </a:r>
            <a:r>
              <a:rPr lang="es-CL" sz="900" dirty="0">
                <a:solidFill>
                  <a:schemeClr val="bg1"/>
                </a:solidFill>
              </a:rPr>
              <a:t>().</a:t>
            </a:r>
          </a:p>
          <a:p>
            <a:pPr algn="just"/>
            <a:endParaRPr lang="es-CL" sz="900" dirty="0">
              <a:solidFill>
                <a:schemeClr val="bg1"/>
              </a:solidFill>
            </a:endParaRPr>
          </a:p>
          <a:p>
            <a:pPr algn="just"/>
            <a:endParaRPr lang="es-CL" sz="900" dirty="0">
              <a:solidFill>
                <a:schemeClr val="bg1"/>
              </a:solidFill>
            </a:endParaRPr>
          </a:p>
          <a:p>
            <a:pPr algn="just"/>
            <a:endParaRPr lang="es-CL" sz="900" dirty="0">
              <a:solidFill>
                <a:schemeClr val="bg1"/>
              </a:solidFill>
            </a:endParaRPr>
          </a:p>
          <a:p>
            <a:pPr algn="just"/>
            <a:r>
              <a:rPr lang="es-CL" sz="900" b="1" dirty="0">
                <a:solidFill>
                  <a:schemeClr val="bg1"/>
                </a:solidFill>
              </a:rPr>
              <a:t>Hallazgos EDA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CL" sz="900" dirty="0">
                <a:solidFill>
                  <a:schemeClr val="bg1"/>
                </a:solidFill>
              </a:rPr>
              <a:t>La cantidad comprada presenta relación positiva con el monto total de la venta.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CL" sz="900" dirty="0">
                <a:solidFill>
                  <a:schemeClr val="bg1"/>
                </a:solidFill>
              </a:rPr>
              <a:t>Existen diferencias de comportamiento entre categorías de productos.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CL" sz="900" dirty="0">
                <a:solidFill>
                  <a:schemeClr val="bg1"/>
                </a:solidFill>
              </a:rPr>
              <a:t>La clasificación inicial estaba desbalanceada y fue corregida mediante cuantiles.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CL" sz="900" dirty="0">
                <a:solidFill>
                  <a:schemeClr val="bg1"/>
                </a:solidFill>
              </a:rPr>
              <a:t>Se identificaron algunos valores extremos en variables numéricas.</a:t>
            </a:r>
          </a:p>
          <a:p>
            <a:r>
              <a:rPr lang="es-CL" sz="1350" dirty="0">
                <a:solidFill>
                  <a:schemeClr val="accent2">
                    <a:lumMod val="75000"/>
                  </a:schemeClr>
                </a:solidFill>
              </a:rPr>
              <a:t>          </a:t>
            </a:r>
          </a:p>
          <a:p>
            <a:r>
              <a:rPr lang="es-CL" sz="1350" dirty="0">
                <a:solidFill>
                  <a:schemeClr val="accent2">
                    <a:lumMod val="75000"/>
                  </a:schemeClr>
                </a:solidFill>
              </a:rPr>
              <a:t>     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FB4446-E5BD-3B53-D011-EF410576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035" y="755540"/>
            <a:ext cx="2846934" cy="23340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CB4D89-B895-3C0B-1A6E-C6C251A309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387"/>
          <a:stretch/>
        </p:blipFill>
        <p:spPr>
          <a:xfrm>
            <a:off x="2909035" y="3185248"/>
            <a:ext cx="2846934" cy="2186077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0606E81-CE33-8308-2E82-372B7B6B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19006"/>
              </p:ext>
            </p:extLst>
          </p:nvPr>
        </p:nvGraphicFramePr>
        <p:xfrm>
          <a:off x="6104932" y="1285324"/>
          <a:ext cx="2761215" cy="10131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6623">
                  <a:extLst>
                    <a:ext uri="{9D8B030D-6E8A-4147-A177-3AD203B41FA5}">
                      <a16:colId xmlns:a16="http://schemas.microsoft.com/office/drawing/2014/main" val="768056930"/>
                    </a:ext>
                  </a:extLst>
                </a:gridCol>
                <a:gridCol w="503266">
                  <a:extLst>
                    <a:ext uri="{9D8B030D-6E8A-4147-A177-3AD203B41FA5}">
                      <a16:colId xmlns:a16="http://schemas.microsoft.com/office/drawing/2014/main" val="3478755598"/>
                    </a:ext>
                  </a:extLst>
                </a:gridCol>
                <a:gridCol w="503266">
                  <a:extLst>
                    <a:ext uri="{9D8B030D-6E8A-4147-A177-3AD203B41FA5}">
                      <a16:colId xmlns:a16="http://schemas.microsoft.com/office/drawing/2014/main" val="812731462"/>
                    </a:ext>
                  </a:extLst>
                </a:gridCol>
                <a:gridCol w="354794">
                  <a:extLst>
                    <a:ext uri="{9D8B030D-6E8A-4147-A177-3AD203B41FA5}">
                      <a16:colId xmlns:a16="http://schemas.microsoft.com/office/drawing/2014/main" val="1923211332"/>
                    </a:ext>
                  </a:extLst>
                </a:gridCol>
                <a:gridCol w="503266">
                  <a:extLst>
                    <a:ext uri="{9D8B030D-6E8A-4147-A177-3AD203B41FA5}">
                      <a16:colId xmlns:a16="http://schemas.microsoft.com/office/drawing/2014/main" val="4201432052"/>
                    </a:ext>
                  </a:extLst>
                </a:gridCol>
              </a:tblGrid>
              <a:tr h="197546">
                <a:tc>
                  <a:txBody>
                    <a:bodyPr/>
                    <a:lstStyle/>
                    <a:p>
                      <a:pPr algn="l" fontAlgn="b"/>
                      <a:r>
                        <a:rPr lang="es-CL" sz="900" b="1" u="none" strike="noStrike" dirty="0">
                          <a:effectLst/>
                        </a:rPr>
                        <a:t>Modelo</a:t>
                      </a:r>
                      <a:endParaRPr lang="es-CL" sz="9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b="1" u="none" strike="noStrike" dirty="0" err="1">
                          <a:effectLst/>
                        </a:rPr>
                        <a:t>Accurracy</a:t>
                      </a:r>
                      <a:endParaRPr lang="es-CL" sz="9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b="1" u="none" strike="noStrike" dirty="0" err="1">
                          <a:effectLst/>
                        </a:rPr>
                        <a:t>Precision</a:t>
                      </a:r>
                      <a:endParaRPr lang="es-CL" sz="9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b="1" u="none" strike="noStrike" dirty="0" err="1">
                          <a:effectLst/>
                        </a:rPr>
                        <a:t>Recall</a:t>
                      </a:r>
                      <a:endParaRPr lang="es-CL" sz="9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b="1" u="none" strike="noStrike" dirty="0">
                          <a:effectLst/>
                        </a:rPr>
                        <a:t>F1</a:t>
                      </a:r>
                      <a:endParaRPr lang="es-CL" sz="900" b="1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b"/>
                </a:tc>
                <a:extLst>
                  <a:ext uri="{0D108BD9-81ED-4DB2-BD59-A6C34878D82A}">
                    <a16:rowId xmlns:a16="http://schemas.microsoft.com/office/drawing/2014/main" val="145806003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fontAlgn="b"/>
                      <a:r>
                        <a:rPr lang="es-CL" sz="900" u="none" strike="noStrike">
                          <a:effectLst/>
                        </a:rPr>
                        <a:t>Random Forest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0.495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0.495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0.495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0.494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extLst>
                  <a:ext uri="{0D108BD9-81ED-4DB2-BD59-A6C34878D82A}">
                    <a16:rowId xmlns:a16="http://schemas.microsoft.com/office/drawing/2014/main" val="57139839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fontAlgn="b"/>
                      <a:r>
                        <a:rPr lang="es-CL" sz="900" u="none" strike="noStrike">
                          <a:effectLst/>
                        </a:rPr>
                        <a:t>KNN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0.490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0.496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0.490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0.481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extLst>
                  <a:ext uri="{0D108BD9-81ED-4DB2-BD59-A6C34878D82A}">
                    <a16:rowId xmlns:a16="http://schemas.microsoft.com/office/drawing/2014/main" val="1366197278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fontAlgn="b"/>
                      <a:r>
                        <a:rPr lang="es-CL" sz="900" u="none" strike="noStrike">
                          <a:effectLst/>
                        </a:rPr>
                        <a:t>Decision Tree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0.470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 dirty="0">
                          <a:effectLst/>
                        </a:rPr>
                        <a:t>0.475</a:t>
                      </a:r>
                      <a:endParaRPr lang="es-CL" sz="9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0.470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0.464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extLst>
                  <a:ext uri="{0D108BD9-81ED-4DB2-BD59-A6C34878D82A}">
                    <a16:rowId xmlns:a16="http://schemas.microsoft.com/office/drawing/2014/main" val="3078814824"/>
                  </a:ext>
                </a:extLst>
              </a:tr>
              <a:tr h="232643">
                <a:tc>
                  <a:txBody>
                    <a:bodyPr/>
                    <a:lstStyle/>
                    <a:p>
                      <a:pPr algn="l" fontAlgn="b"/>
                      <a:r>
                        <a:rPr lang="es-CL" sz="900" u="none" strike="noStrike">
                          <a:effectLst/>
                        </a:rPr>
                        <a:t>Logistic Regression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0.455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0.426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>
                          <a:effectLst/>
                        </a:rPr>
                        <a:t>0.455</a:t>
                      </a:r>
                      <a:endParaRPr lang="es-CL" sz="9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900" u="none" strike="noStrike" dirty="0">
                          <a:effectLst/>
                        </a:rPr>
                        <a:t>0.433</a:t>
                      </a:r>
                      <a:endParaRPr lang="es-CL" sz="9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28575" marB="28575" anchor="b"/>
                </a:tc>
                <a:extLst>
                  <a:ext uri="{0D108BD9-81ED-4DB2-BD59-A6C34878D82A}">
                    <a16:rowId xmlns:a16="http://schemas.microsoft.com/office/drawing/2014/main" val="711230647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19597A84-59AC-947F-14E6-159C0577DCCB}"/>
              </a:ext>
            </a:extLst>
          </p:cNvPr>
          <p:cNvSpPr txBox="1"/>
          <p:nvPr/>
        </p:nvSpPr>
        <p:spPr>
          <a:xfrm>
            <a:off x="6259411" y="953679"/>
            <a:ext cx="2452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b="1" dirty="0">
                <a:solidFill>
                  <a:schemeClr val="bg1"/>
                </a:solidFill>
              </a:rPr>
              <a:t>Resultados de los modelos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5FBCBBA-BD80-CA22-5B1C-979E4B2F2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218" y="2771746"/>
            <a:ext cx="2674639" cy="24892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B559EDF-7725-7CA6-5A43-EB46BB394271}"/>
              </a:ext>
            </a:extLst>
          </p:cNvPr>
          <p:cNvSpPr txBox="1"/>
          <p:nvPr/>
        </p:nvSpPr>
        <p:spPr>
          <a:xfrm>
            <a:off x="1764229" y="5589679"/>
            <a:ext cx="572130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900" b="1" dirty="0">
                <a:solidFill>
                  <a:schemeClr val="bg1"/>
                </a:solidFill>
              </a:rPr>
              <a:t>Conclusiones:</a:t>
            </a:r>
          </a:p>
          <a:p>
            <a:pPr marL="214313" indent="-214313" algn="just">
              <a:buFontTx/>
              <a:buChar char="-"/>
            </a:pPr>
            <a:r>
              <a:rPr lang="es-CL" sz="900" dirty="0" err="1">
                <a:solidFill>
                  <a:schemeClr val="bg1"/>
                </a:solidFill>
              </a:rPr>
              <a:t>Random</a:t>
            </a:r>
            <a:r>
              <a:rPr lang="es-CL" sz="900" dirty="0">
                <a:solidFill>
                  <a:schemeClr val="bg1"/>
                </a:solidFill>
              </a:rPr>
              <a:t> Forest obtuvo el mejor desempeño general.</a:t>
            </a:r>
          </a:p>
          <a:p>
            <a:pPr marL="214313" indent="-214313" algn="just">
              <a:buFontTx/>
              <a:buChar char="-"/>
            </a:pPr>
            <a:r>
              <a:rPr lang="es-CL" sz="900" dirty="0">
                <a:solidFill>
                  <a:schemeClr val="bg1"/>
                </a:solidFill>
              </a:rPr>
              <a:t>La categoría Baja fue la más fácil de identificar.</a:t>
            </a:r>
          </a:p>
          <a:p>
            <a:pPr marL="214313" indent="-214313" algn="just">
              <a:buFontTx/>
              <a:buChar char="-"/>
            </a:pPr>
            <a:r>
              <a:rPr lang="es-CL" sz="900" dirty="0">
                <a:solidFill>
                  <a:schemeClr val="bg1"/>
                </a:solidFill>
              </a:rPr>
              <a:t>Las categorías Alta y Media presentan mayor confusión.</a:t>
            </a:r>
          </a:p>
          <a:p>
            <a:pPr marL="214313" indent="-214313" algn="just">
              <a:buFontTx/>
              <a:buChar char="-"/>
            </a:pPr>
            <a:r>
              <a:rPr lang="es-CL" sz="900" dirty="0">
                <a:solidFill>
                  <a:schemeClr val="bg1"/>
                </a:solidFill>
              </a:rPr>
              <a:t>Las variables utilizadas contienen información útil, aunque insuficiente para lograr una clasificación altamente precisa.</a:t>
            </a:r>
          </a:p>
          <a:p>
            <a:pPr marL="214313" indent="-214313" algn="just">
              <a:buFontTx/>
              <a:buChar char="-"/>
            </a:pPr>
            <a:r>
              <a:rPr lang="es-CL" sz="900" dirty="0">
                <a:solidFill>
                  <a:schemeClr val="bg1"/>
                </a:solidFill>
              </a:rPr>
              <a:t>Futuras mejoras podrían incluir nuevas variables relacionadas con comportamiento de compra y promociones</a:t>
            </a:r>
          </a:p>
        </p:txBody>
      </p:sp>
    </p:spTree>
    <p:extLst>
      <p:ext uri="{BB962C8B-B14F-4D97-AF65-F5344CB8AC3E}">
        <p14:creationId xmlns:p14="http://schemas.microsoft.com/office/powerpoint/2010/main" val="2924584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47</TotalTime>
  <Words>196</Words>
  <Application>Microsoft Macintosh PowerPoint</Application>
  <PresentationFormat>Presentación en pantalla (4:3)</PresentationFormat>
  <Paragraphs>54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Carla Bermúdez Fuentes</dc:creator>
  <cp:lastModifiedBy>Carla Bermúdez Fuentes</cp:lastModifiedBy>
  <cp:revision>1</cp:revision>
  <dcterms:created xsi:type="dcterms:W3CDTF">2026-06-04T00:49:08Z</dcterms:created>
  <dcterms:modified xsi:type="dcterms:W3CDTF">2026-06-04T01:37:04Z</dcterms:modified>
</cp:coreProperties>
</file>